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6020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54532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7498881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692107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53263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5384507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9715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032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616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561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261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438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19F0FE-2C85-9FDC-8BF7-2BB69B8AF2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493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877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296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71A20B-449E-3451-E9DC-5D2B3FEABB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63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0144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7027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767747-E028-140A-DC57-CEF0283EE7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17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3110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4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DFA1F6-3DAF-F824-6DCD-AC10ED183A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672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739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92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FF0D9A-1084-CB20-7E9C-7E1E9BE35B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589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819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80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5BB7AB-6BA6-0369-22C2-E62741D8C5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486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56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504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01B436-2A6A-3480-AD3F-A1D394CC92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181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2895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240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0B6252-C27E-0BCC-1789-DC5AAB9C4D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691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7253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732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F06EA5-CC60-46C6-A690-51F348CCDB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946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587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39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667D3E-2826-E623-5440-618E754298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888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075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734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9EA3A3-E7E1-B97D-57D5-2CD325E205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666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242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302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55C8BC-F8EE-7BB5-A912-6872E5DF65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838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4906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2053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D88275-6D40-B989-5035-130AC6664E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307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140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58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C6BB8-FCD1-1006-D7DB-AF205E17B6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36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2828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0205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BB5E08-6DC8-855C-4C1A-A185D5CC1C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660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5463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37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950D44-5A9E-934C-4050-696C9CB9B3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449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1051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14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038402-1A8C-89D5-D01D-3BA138FB10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94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649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KAN постоянно превосходят MLP, достигая значительно более низких тестовых потерь по ряду параметров и при гораздо меньшей глубине сети (количестве слоев).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KAN демонстрируют превосходную эффективность, с более резким снижением потерь, что особенно заметно при меньшем количестве параметров.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Производительность MLP практически не меняется при увеличении количества параметров.</a:t>
            </a:r>
            <a:endParaRPr/>
          </a:p>
        </p:txBody>
      </p:sp>
      <p:sp>
        <p:nvSpPr>
          <p:cNvPr id="497372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034AAA-280C-6B0C-1502-58CB38FE1E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6483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8892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83915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8E6E4E-3609-5B2F-4AAC-5991878657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409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8258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6B362-23A6-5070-6A8E-003781031F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972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7165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Катастрофическое забывание — проблема в MLP.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Когда MLP обучается выполнению одной задачи, а затем переключается на обучение другой,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сеть вскоре забывает, как выполнять первую задачу.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Помните ли вы, почему для аппроксимации кривых используются сплайны, а не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полиномы? Локальность!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Поскольку основания сплайнов являются локальными, выборка будет влиять только на несколько близлежащих коэффициентов сплайна,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оставляя далекие коэффициенты неизменными.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Напротив, поскольку MLP обычно используют глобальные активации, любое локальное изменение может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распространяться на удаленные области.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1196881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36D78A-65F5-8B8B-A18E-2FABB2ED71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305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369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Катастрофическое забывание — проблема в MLP.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Когда MLP обучается выполнению одной задачи, а затем переключается на обучение другой,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сеть вскоре забывает, как выполнять первую задачу.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Помните ли вы, почему для аппроксимации кривых используются сплайны, а не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полиномы? Локальность!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Поскольку основания сплайнов являются локальными, выборка будет влиять только на несколько близлежащих коэффициентов сплайна,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оставляя далекие коэффициенты неизменными.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Напротив, поскольку MLP обычно используют глобальные активации, любое локальное изменение может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распространяться на удаленные области.</a:t>
            </a:r>
            <a:endParaRPr lang="en-US" sz="1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76957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C8F6D-7EE0-1084-AEE2-623E487308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896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225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7015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62B48-F458-BB33-157D-C767F4FA49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76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914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722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36729-86B7-A474-00E2-C95927B333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875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453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695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E98F6-36D1-F694-6D8C-0CCF207BC4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700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3305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79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E4D6C-1F89-1AC9-11D2-1B7123860C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159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29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6750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9AF760-8269-92ED-B6CF-2252FC1166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4008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4337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519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8BF775-4FEA-21C1-D499-DD013CCF7C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89177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636308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094141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782681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1263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1068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57715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43458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28496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56127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00585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1299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7049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4717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6529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2641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13046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18009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78367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586221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15413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85566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5781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68515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829073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512441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83282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10728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96376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4798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681909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627086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089186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3808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94167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72288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0172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9012336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471274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07626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52829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24254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83483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041982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173518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83935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2155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85385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4327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446455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39918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90253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4350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9811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821052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42057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76476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1975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6165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93041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593387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90099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37007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microsoft.com/office/2007/relationships/media" Target="../media/media1.mp4"/><Relationship Id="rId6" Type="http://schemas.openxmlformats.org/officeDocument/2006/relationships/video" Target="../media/media1.mp4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microsoft.com/office/2007/relationships/media" Target="../media/media2.mp4"/><Relationship Id="rId7" Type="http://schemas.openxmlformats.org/officeDocument/2006/relationships/video" Target="../media/media2.mp4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microsoft.com/office/2007/relationships/media" Target="../media/media3.mp4"/><Relationship Id="rId7" Type="http://schemas.openxmlformats.org/officeDocument/2006/relationships/video" Target="../media/media3.mp4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Relationship Id="rId4" Type="http://schemas.microsoft.com/office/2007/relationships/media" Target="../media/media4.mp4"/><Relationship Id="rId5" Type="http://schemas.openxmlformats.org/officeDocument/2006/relationships/video" Target="../media/media4.mp4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64129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000"/>
              <a:t>Нейронные сети Колмогорова-Арнольда</a:t>
            </a:r>
            <a:endParaRPr sz="4000"/>
          </a:p>
        </p:txBody>
      </p:sp>
      <p:sp>
        <p:nvSpPr>
          <p:cNvPr id="206150184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AIMasters, 2025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158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План</a:t>
            </a:r>
            <a:endParaRPr sz="3000"/>
          </a:p>
        </p:txBody>
      </p:sp>
      <p:sp>
        <p:nvSpPr>
          <p:cNvPr id="20503458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000"/>
              <a:t>Введение.</a:t>
            </a:r>
            <a:endParaRPr lang="ru-RU" sz="2000"/>
          </a:p>
          <a:p>
            <a:pPr>
              <a:defRPr/>
            </a:pPr>
            <a:r>
              <a:rPr lang="ru-RU" sz="2000"/>
              <a:t>Теорема Цыбенко.</a:t>
            </a:r>
            <a:endParaRPr lang="ru-RU" sz="2000"/>
          </a:p>
          <a:p>
            <a:pPr>
              <a:defRPr/>
            </a:pPr>
            <a:r>
              <a:rPr lang="ru-RU" sz="2000"/>
              <a:t>Теорема Колмогорова-Арнольда.</a:t>
            </a:r>
            <a:endParaRPr lang="ru-RU" sz="2000"/>
          </a:p>
          <a:p>
            <a:pPr>
              <a:defRPr/>
            </a:pPr>
            <a:r>
              <a:rPr lang="ru-RU" sz="2000"/>
              <a:t>Кривые Безье. </a:t>
            </a:r>
            <a:r>
              <a:rPr lang="en-US" sz="2000"/>
              <a:t>B-</a:t>
            </a:r>
            <a:r>
              <a:rPr lang="ru-RU" sz="2000"/>
              <a:t>сплайны.</a:t>
            </a:r>
            <a:endParaRPr lang="ru-RU" sz="2000"/>
          </a:p>
          <a:p>
            <a:pPr>
              <a:defRPr/>
            </a:pPr>
            <a:r>
              <a:rPr lang="ru-RU" sz="2000"/>
              <a:t>Сети Колмогорова-Арнольда (</a:t>
            </a:r>
            <a:r>
              <a:rPr lang="en-US" sz="2000"/>
              <a:t>KAN</a:t>
            </a:r>
            <a:r>
              <a:rPr lang="ru-RU" sz="2000"/>
              <a:t>).</a:t>
            </a:r>
            <a:endParaRPr lang="ru-RU" sz="2000"/>
          </a:p>
          <a:p>
            <a:pPr>
              <a:defRPr/>
            </a:pPr>
            <a:r>
              <a:rPr lang="ru-RU" sz="2000"/>
              <a:t>Сравнени</a:t>
            </a:r>
            <a:r>
              <a:rPr lang="ru-RU" sz="2000"/>
              <a:t>е</a:t>
            </a:r>
            <a:r>
              <a:rPr lang="en-US" sz="2000"/>
              <a:t> </a:t>
            </a:r>
            <a:r>
              <a:rPr lang="en-US" sz="2000"/>
              <a:t>KAN </a:t>
            </a:r>
            <a:r>
              <a:rPr lang="ru-RU" sz="2000"/>
              <a:t>и </a:t>
            </a:r>
            <a:r>
              <a:rPr lang="en-US" sz="2000"/>
              <a:t>MLP.</a:t>
            </a:r>
            <a:endParaRPr lang="en-US" sz="2000"/>
          </a:p>
          <a:p>
            <a:pPr>
              <a:defRPr/>
            </a:pPr>
            <a:r>
              <a:rPr lang="ru-RU" sz="2000"/>
              <a:t>Развитие </a:t>
            </a:r>
            <a:r>
              <a:rPr lang="en-US" sz="2000"/>
              <a:t>KAN.</a:t>
            </a:r>
            <a:endParaRPr lang="en-US" sz="2000"/>
          </a:p>
          <a:p>
            <a:pPr>
              <a:defRPr/>
            </a:pPr>
            <a:r>
              <a:rPr lang="ru-RU" sz="2000"/>
              <a:t>Общие выводы.</a:t>
            </a:r>
            <a:endParaRPr lang="ru-RU" sz="2000"/>
          </a:p>
          <a:p>
            <a:pPr marL="0" indent="0">
              <a:buFont typeface="Arial"/>
              <a:buNone/>
              <a:defRPr/>
            </a:pP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0029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Введение</a:t>
            </a:r>
            <a:endParaRPr sz="3000"/>
          </a:p>
        </p:txBody>
      </p:sp>
      <p:pic>
        <p:nvPicPr>
          <p:cNvPr id="11153073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2014184"/>
            <a:ext cx="10515600" cy="3832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95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Теорема Цыбенко</a:t>
            </a:r>
            <a:endParaRPr sz="3000"/>
          </a:p>
        </p:txBody>
      </p:sp>
      <p:sp>
        <p:nvSpPr>
          <p:cNvPr id="61160232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Формулировка: 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Пусть</a:t>
            </a: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σ(.)</m:t>
                      </m:r>
                    </m:oMath>
                  </m:oMathPara>
                </a14:m>
              </mc:Choice>
              <mc:Fallback/>
            </mc:AlternateContent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непрерывная нелинейная функция активации, не являющаяся полиномом. 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Тогда для любой непрерывной функции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f: K</m:t>
                      </m:r>
                      <m:r>
                        <m:rPr>
                          <m:sty m:val="i"/>
                        </m:rPr>
                        <a:rPr sz="1800" u="none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⊂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  <m:sSup>
                        <m:sSupPr>
                          <m:ctrlPr>
                            <a:rPr lang="en-US" sz="180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→R</m:t>
                      </m:r>
                    </m:oMath>
                  </m:oMathPara>
                </a14:m>
              </mc:Choice>
              <mc:Fallback/>
            </mc:AlternateContent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buFont typeface="Arial"/>
              <a:buNone/>
              <a:defRPr/>
            </a:pP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определённой на компактном множестве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𝐾</m:t>
                      </m:r>
                    </m:oMath>
                  </m:oMathPara>
                </a14:m>
              </mc:Choice>
              <mc:Fallback/>
            </mc:AlternateContent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и для любого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1800">
                          <a:latin typeface="Cambria Math"/>
                          <a:ea typeface="Cambria Math"/>
                          <a:cs typeface="Cambria Math"/>
                        </a:rPr>
                        <m:t>𝜀&gt;0</m:t>
                      </m:r>
                    </m:oMath>
                  </m:oMathPara>
                </a14:m>
              </mc:Choice>
              <mc:Fallback/>
            </mc:AlternateContent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существует нейронная сеть прямого распространения с </a:t>
            </a:r>
            <a:r>
              <a:rPr sz="18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одним скрытым слоем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конечным числом нейронов такая, что</a:t>
            </a:r>
            <a:endParaRPr sz="18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ctr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sup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∈K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en-US" sz="1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ctrl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-</m:t>
                          </m:r>
                          <m:nary>
                            <m:naryPr>
                              <m:chr m:val="∑"/>
                              <m:grow m:val="off"/>
                              <m:limLoc m:val="undOvr"/>
                              <m:ctrlPr>
                                <a:rPr lang="en-US" sz="1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i=1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σ(</m:t>
                              </m:r>
                              <m:sSubSup>
                                <m:sSubSupPr>
                                  <m:alnScr m:val="off"/>
                                  <m:ctrl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m:rPr>
                                      <m:sty m:val="i"/>
                                    </m:rPr>
                                    <a:rPr lang="en-US" sz="1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i"/>
                                </m:rPr>
                                <a:rPr lang="en-US" sz="1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</m:oMath>
                  </m:oMathPara>
                </a14:m>
              </mc:Choice>
              <mc:Fallback/>
            </mc:AlternateContent>
            <a:endParaRPr sz="18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Ключевые аспекты: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Структура сети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один скрытый слой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defRPr/>
            </a:pP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Аппроксимация функции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любая неперывная функция.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Функция активации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елинейн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ая функция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например Sigmoid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ReLU</a:t>
            </a:r>
            <a:r>
              <a:rPr lang="ru-RU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a:r>
              <a:rPr lang="ru-RU"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др</a:t>
            </a:r>
            <a:r>
              <a:rPr sz="1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6283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Теорема Цыбенко</a:t>
            </a:r>
            <a:endParaRPr sz="3000"/>
          </a:p>
        </p:txBody>
      </p:sp>
      <p:pic>
        <p:nvPicPr>
          <p:cNvPr id="3081130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99" y="1774644"/>
            <a:ext cx="4672808" cy="4637091"/>
          </a:xfrm>
          <a:prstGeom prst="rect">
            <a:avLst/>
          </a:prstGeom>
        </p:spPr>
      </p:pic>
      <p:pic>
        <p:nvPicPr>
          <p:cNvPr id="1541427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82880" y="1774644"/>
            <a:ext cx="4613119" cy="4731784"/>
          </a:xfrm>
          <a:prstGeom prst="rect">
            <a:avLst/>
          </a:prstGeom>
        </p:spPr>
      </p:pic>
      <p:sp>
        <p:nvSpPr>
          <p:cNvPr id="1844281501" name=""/>
          <p:cNvSpPr txBox="1"/>
          <p:nvPr/>
        </p:nvSpPr>
        <p:spPr bwMode="auto">
          <a:xfrm rot="0" flipH="0" flipV="0">
            <a:off x="5638799" y="1324567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053646825" name=""/>
          <p:cNvSpPr/>
          <p:nvPr/>
        </p:nvSpPr>
        <p:spPr bwMode="auto">
          <a:xfrm>
            <a:off x="5103083" y="1408524"/>
            <a:ext cx="1994473" cy="38078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acc>
                        <m:accPr>
                          <m:chr m:val="̃"/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acc>
                      <m:d>
                        <m:dPr>
                          <m:begChr m:val="("/>
                          <m:endChr m:val=")"/>
                          <m:ctrl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180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))</m:t>
                      </m:r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9048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Теорема Колмогорова-Арнольда</a:t>
            </a:r>
            <a:endParaRPr sz="3000"/>
          </a:p>
        </p:txBody>
      </p:sp>
      <p:sp>
        <p:nvSpPr>
          <p:cNvPr id="46780788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ru-RU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Формулировка: </a:t>
            </a:r>
            <a:endParaRPr sz="16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Любая непрерывная функция</a:t>
            </a:r>
            <a:endParaRPr sz="16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[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sSup>
                        <m:sSup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]</m:t>
                          </m:r>
                        </m:e>
                        <m:sup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𝑛</m:t>
                          </m:r>
                        </m:sup>
                      </m:sSup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ℝ</m:t>
                      </m:r>
                    </m:oMath>
                  </m:oMathPara>
                </a14:m>
              </mc:Choice>
              <mc:Fallback/>
            </mc:AlternateContent>
            <a:endParaRPr sz="16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 algn="l"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может быть представлена в виде конечной суммы и суперпозиции </a:t>
            </a:r>
            <a:r>
              <a:rPr sz="16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одномерных непрерывных функций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, то есть</a:t>
            </a:r>
            <a:endParaRPr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𝑓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…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𝑛</m:t>
                          </m:r>
                        </m:sub>
                      </m:sSub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grow m:val="off"/>
                          <m:limLoc m:val="undOvr"/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𝑞</m:t>
                          </m:r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sSub>
                            <m:sSubPr>
                              <m:ctrlPr>
                                <a:rPr sz="16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en-US" sz="1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ψ</m:t>
                              </m:r>
                            </m:e>
                            <m:sub>
                              <m:r>
                                <m:rPr/>
                                <a:rPr sz="1600"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𝑞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,"/>
                              <m:shp m:val="match"/>
                              <m:ctrlPr>
                                <a:rPr sz="1600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grow m:val="off"/>
                                  <m:limLoc m:val="undOvr"/>
                                  <m:ctrlPr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/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m:rPr/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/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sz="16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i"/>
                                        </m:rPr>
                                        <a:rPr lang="en-US" sz="16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ϕ</m:t>
                                      </m:r>
                                    </m:e>
                                    <m:sub>
                                      <m:r>
                                        <m:rPr/>
                                        <a:rPr sz="16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𝑝</m:t>
                                      </m:r>
                                      <m:r>
                                        <m:rPr/>
                                        <a:rPr sz="16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𝑞</m:t>
                                      </m:r>
                                    </m:sub>
                                  </m:sSub>
                                  <m:r>
                                    <m:rPr/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sz="16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/>
                                        <a:rPr sz="16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/>
                                        <a:rPr sz="1600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m:rPr/>
                                    <a:rPr sz="1600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</m:nary>
                      <m:r>
                        <m:rPr/>
                        <a:rPr sz="1600"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</m:oMath>
                  </m:oMathPara>
                </a14:m>
              </mc:Choice>
              <mc:Fallback/>
            </mc:AlternateContent>
            <a:endParaRPr sz="1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где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ψ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e>
                        <m:sub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𝑝</m:t>
                          </m:r>
                          <m:r>
                            <m:rPr/>
                            <a:rPr sz="1600">
                              <a:latin typeface="Cambria Math"/>
                              <a:ea typeface="Cambria Math"/>
                              <a:cs typeface="Cambria Math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— непрерывные функции одной переменной.</a:t>
            </a:r>
            <a:endParaRPr sz="1600"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6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Ключевые аспекты:</a:t>
            </a:r>
            <a:endParaRPr sz="16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Структура представления: 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омпозиция и суммирование одномерных функций.</a:t>
            </a:r>
            <a:endParaRPr sz="1600" b="0">
              <a:latin typeface="Arial"/>
              <a:cs typeface="Arial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Аппроксимация функции: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л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юбая непрерывная функция нескольких переменных</a:t>
            </a:r>
            <a:r>
              <a:rPr lang="ru-RU" sz="1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6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Базовые функции: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епрерывные функции одной переменной.</a:t>
            </a:r>
            <a:endParaRPr sz="16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8094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Теорема Колмогорова-Арнольда</a:t>
            </a:r>
            <a:endParaRPr sz="3000"/>
          </a:p>
        </p:txBody>
      </p:sp>
      <p:pic>
        <p:nvPicPr>
          <p:cNvPr id="14537106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19151" y="1909609"/>
            <a:ext cx="4686775" cy="4613658"/>
          </a:xfrm>
          <a:prstGeom prst="rect">
            <a:avLst/>
          </a:prstGeom>
        </p:spPr>
      </p:pic>
      <p:pic>
        <p:nvPicPr>
          <p:cNvPr id="17736627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423191" y="1909609"/>
            <a:ext cx="4672807" cy="4613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2812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sz="3000"/>
              <a:t>MLP</a:t>
            </a:r>
            <a:r>
              <a:rPr lang="ru-RU" sz="3000"/>
              <a:t> </a:t>
            </a:r>
            <a:r>
              <a:rPr lang="ru-RU" sz="3000"/>
              <a:t>подход</a:t>
            </a:r>
            <a:r>
              <a:rPr lang="en-US" sz="3000"/>
              <a:t> vs. KAN</a:t>
            </a:r>
            <a:r>
              <a:rPr lang="ru-RU" sz="3000"/>
              <a:t> подход</a:t>
            </a:r>
            <a:endParaRPr sz="3000"/>
          </a:p>
        </p:txBody>
      </p:sp>
      <p:sp>
        <p:nvSpPr>
          <p:cNvPr id="1580365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2644701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79056" y="1825624"/>
            <a:ext cx="10233885" cy="39670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845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Как </a:t>
            </a:r>
            <a:r>
              <a:rPr lang="ru-RU" sz="3000"/>
              <a:t>настраивать сети Колмогорова-Арнольда?</a:t>
            </a:r>
            <a:endParaRPr sz="3000"/>
          </a:p>
        </p:txBody>
      </p:sp>
      <p:sp>
        <p:nvSpPr>
          <p:cNvPr id="8430993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4030945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825624"/>
            <a:ext cx="5246545" cy="2065866"/>
          </a:xfrm>
          <a:prstGeom prst="rect">
            <a:avLst/>
          </a:prstGeom>
        </p:spPr>
      </p:pic>
      <p:pic>
        <p:nvPicPr>
          <p:cNvPr id="14803412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2854137"/>
            <a:ext cx="5257798" cy="2294312"/>
          </a:xfrm>
          <a:prstGeom prst="rect">
            <a:avLst/>
          </a:prstGeom>
        </p:spPr>
      </p:pic>
      <p:pic>
        <p:nvPicPr>
          <p:cNvPr id="4966325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8198" y="4119978"/>
            <a:ext cx="5257800" cy="20569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5582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Как </a:t>
            </a:r>
            <a:r>
              <a:rPr lang="ru-RU" sz="3000"/>
              <a:t>настраивать сети Колмогорова-Арнольда?</a:t>
            </a:r>
            <a:endParaRPr sz="3000"/>
          </a:p>
        </p:txBody>
      </p:sp>
      <p:sp>
        <p:nvSpPr>
          <p:cNvPr id="6854261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612221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5277" y="1690687"/>
            <a:ext cx="10638522" cy="42826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3977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Кривые Безье</a:t>
            </a:r>
            <a:endParaRPr sz="3000"/>
          </a:p>
        </p:txBody>
      </p:sp>
      <p:pic>
        <p:nvPicPr>
          <p:cNvPr id="12070921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40513" y="1768290"/>
            <a:ext cx="4429913" cy="1816805"/>
          </a:xfrm>
          <a:prstGeom prst="rect">
            <a:avLst/>
          </a:prstGeom>
        </p:spPr>
      </p:pic>
      <p:pic>
        <p:nvPicPr>
          <p:cNvPr id="44000681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63749" y="1283221"/>
            <a:ext cx="2593819" cy="1742200"/>
          </a:xfrm>
          <a:prstGeom prst="rect">
            <a:avLst/>
          </a:prstGeom>
        </p:spPr>
      </p:pic>
      <p:pic>
        <p:nvPicPr>
          <p:cNvPr id="167895811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52843" y="3633611"/>
            <a:ext cx="4633547" cy="1912055"/>
          </a:xfrm>
          <a:prstGeom prst="rect">
            <a:avLst/>
          </a:prstGeom>
        </p:spPr>
      </p:pic>
      <p:pic>
        <p:nvPicPr>
          <p:cNvPr id="183156552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359986" y="3974331"/>
            <a:ext cx="4332355" cy="1871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5922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Кривые Безье</a:t>
            </a:r>
            <a:endParaRPr sz="3000"/>
          </a:p>
        </p:txBody>
      </p:sp>
      <p:pic>
        <p:nvPicPr>
          <p:cNvPr id="2414190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2318840"/>
            <a:ext cx="5257800" cy="2220318"/>
          </a:xfrm>
          <a:prstGeom prst="rect">
            <a:avLst/>
          </a:prstGeom>
        </p:spPr>
      </p:pic>
      <p:pic>
        <p:nvPicPr>
          <p:cNvPr id="2041683505" name="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4"/>
          <a:stretch/>
        </p:blipFill>
        <p:spPr bwMode="auto">
          <a:xfrm flipH="0" flipV="0">
            <a:off x="6144843" y="800097"/>
            <a:ext cx="5257801" cy="52578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8346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Кривые Безье</a:t>
            </a:r>
            <a:endParaRPr sz="3000"/>
          </a:p>
        </p:txBody>
      </p:sp>
      <p:pic>
        <p:nvPicPr>
          <p:cNvPr id="200181562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3662238"/>
            <a:ext cx="5257800" cy="2243260"/>
          </a:xfrm>
          <a:prstGeom prst="rect">
            <a:avLst/>
          </a:prstGeom>
        </p:spPr>
      </p:pic>
      <p:pic>
        <p:nvPicPr>
          <p:cNvPr id="194224826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8198" y="1536206"/>
            <a:ext cx="5257800" cy="2036578"/>
          </a:xfrm>
          <a:prstGeom prst="rect">
            <a:avLst/>
          </a:prstGeom>
        </p:spPr>
      </p:pic>
      <p:pic>
        <p:nvPicPr>
          <p:cNvPr id="469254696" name="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 rotWithShape="1">
          <a:blip r:embed="rId5"/>
          <a:stretch/>
        </p:blipFill>
        <p:spPr bwMode="auto">
          <a:xfrm flipH="0" flipV="0">
            <a:off x="6095999" y="943882"/>
            <a:ext cx="5257801" cy="52578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3693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Кривые Безье</a:t>
            </a:r>
            <a:endParaRPr sz="3000"/>
          </a:p>
        </p:txBody>
      </p:sp>
      <p:pic>
        <p:nvPicPr>
          <p:cNvPr id="5163692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472847"/>
            <a:ext cx="5286651" cy="1771357"/>
          </a:xfrm>
          <a:prstGeom prst="rect">
            <a:avLst/>
          </a:prstGeom>
        </p:spPr>
      </p:pic>
      <p:pic>
        <p:nvPicPr>
          <p:cNvPr id="165331671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24851" y="2425137"/>
            <a:ext cx="5257800" cy="2353782"/>
          </a:xfrm>
          <a:prstGeom prst="rect">
            <a:avLst/>
          </a:prstGeom>
        </p:spPr>
      </p:pic>
      <p:pic>
        <p:nvPicPr>
          <p:cNvPr id="121590738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8198" y="3350019"/>
            <a:ext cx="5286651" cy="3153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5075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000"/>
              <a:t>B-</a:t>
            </a:r>
            <a:r>
              <a:rPr lang="ru-RU" sz="3000"/>
              <a:t>сплайны</a:t>
            </a:r>
            <a:endParaRPr sz="3000"/>
          </a:p>
        </p:txBody>
      </p:sp>
      <p:pic>
        <p:nvPicPr>
          <p:cNvPr id="19125344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540281"/>
            <a:ext cx="5257800" cy="2397817"/>
          </a:xfrm>
          <a:prstGeom prst="rect">
            <a:avLst/>
          </a:prstGeom>
        </p:spPr>
      </p:pic>
      <p:pic>
        <p:nvPicPr>
          <p:cNvPr id="55296998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8198" y="3938099"/>
            <a:ext cx="5257800" cy="2397817"/>
          </a:xfrm>
          <a:prstGeom prst="rect">
            <a:avLst/>
          </a:prstGeom>
        </p:spPr>
      </p:pic>
      <p:pic>
        <p:nvPicPr>
          <p:cNvPr id="1027041400" name="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 rotWithShape="1">
          <a:blip r:embed="rId5"/>
          <a:stretch/>
        </p:blipFill>
        <p:spPr bwMode="auto">
          <a:xfrm flipH="0" flipV="0">
            <a:off x="6548132" y="1530249"/>
            <a:ext cx="4805666" cy="4805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8558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000"/>
              <a:t>KAN </a:t>
            </a:r>
            <a:r>
              <a:rPr lang="ru-RU" sz="3000"/>
              <a:t>слой</a:t>
            </a:r>
            <a:endParaRPr sz="3000"/>
          </a:p>
        </p:txBody>
      </p:sp>
      <p:pic>
        <p:nvPicPr>
          <p:cNvPr id="17495773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4500" y="2206217"/>
            <a:ext cx="5471498" cy="1765625"/>
          </a:xfrm>
          <a:prstGeom prst="rect">
            <a:avLst/>
          </a:prstGeom>
        </p:spPr>
      </p:pic>
      <p:pic>
        <p:nvPicPr>
          <p:cNvPr id="141277009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1764477"/>
            <a:ext cx="2968481" cy="648848"/>
          </a:xfrm>
          <a:prstGeom prst="rect">
            <a:avLst/>
          </a:prstGeom>
        </p:spPr>
      </p:pic>
      <p:pic>
        <p:nvPicPr>
          <p:cNvPr id="151070887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095999" y="2507088"/>
            <a:ext cx="3762312" cy="2929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0398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000"/>
              <a:t>KAN </a:t>
            </a:r>
            <a:r>
              <a:rPr lang="ru-RU" sz="3000"/>
              <a:t>слой</a:t>
            </a:r>
            <a:endParaRPr sz="3000"/>
          </a:p>
        </p:txBody>
      </p:sp>
      <p:pic>
        <p:nvPicPr>
          <p:cNvPr id="7807577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2089659"/>
            <a:ext cx="5257800" cy="2419267"/>
          </a:xfrm>
          <a:prstGeom prst="rect">
            <a:avLst/>
          </a:prstGeom>
        </p:spPr>
      </p:pic>
      <p:pic>
        <p:nvPicPr>
          <p:cNvPr id="20770085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920784"/>
            <a:ext cx="5396684" cy="50164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7262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число параметров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</p:txBody>
      </p:sp>
      <p:pic>
        <p:nvPicPr>
          <p:cNvPr id="12263433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495281"/>
            <a:ext cx="5257800" cy="4106333"/>
          </a:xfrm>
          <a:prstGeom prst="rect">
            <a:avLst/>
          </a:prstGeom>
        </p:spPr>
      </p:pic>
      <p:pic>
        <p:nvPicPr>
          <p:cNvPr id="130461456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95999" y="3548448"/>
            <a:ext cx="4332835" cy="1493875"/>
          </a:xfrm>
          <a:prstGeom prst="rect">
            <a:avLst/>
          </a:prstGeom>
        </p:spPr>
      </p:pic>
      <p:pic>
        <p:nvPicPr>
          <p:cNvPr id="164558540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757050" y="2639469"/>
            <a:ext cx="3599166" cy="7895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672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качество моделей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</p:txBody>
      </p:sp>
      <p:pic>
        <p:nvPicPr>
          <p:cNvPr id="24669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51767" y="1436504"/>
            <a:ext cx="8688465" cy="5238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9586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качество моделей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</p:txBody>
      </p:sp>
      <p:pic>
        <p:nvPicPr>
          <p:cNvPr id="19452059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5568" y="1349374"/>
            <a:ext cx="10678231" cy="51343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3643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непрерывное обучение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411332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53705" y="1267389"/>
            <a:ext cx="9484584" cy="52120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5678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непрерывное обучение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032039690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3645436" y="1440762"/>
            <a:ext cx="4664620" cy="4664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7535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непрерывное обучение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3258214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38409" y="1257132"/>
            <a:ext cx="9515179" cy="5233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3745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интерпретируемость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6089403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19726" y="1278510"/>
            <a:ext cx="9352546" cy="4780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0675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vs. MLP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(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набор данных 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MNIST</a:t>
            </a:r>
            <a:r>
              <a:rPr lang="en-US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399077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568572"/>
            <a:ext cx="10583333" cy="396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074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Развитие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базы нейронных сете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й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3097551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690687"/>
            <a:ext cx="10515600" cy="2879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805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000">
                <a:latin typeface="Arial"/>
                <a:ea typeface="Arial"/>
                <a:cs typeface="Arial"/>
              </a:rPr>
              <a:t>Расширение областей примения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8189855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627978"/>
            <a:ext cx="10515600" cy="2264099"/>
          </a:xfrm>
          <a:prstGeom prst="rect">
            <a:avLst/>
          </a:prstGeom>
        </p:spPr>
      </p:pic>
      <p:sp>
        <p:nvSpPr>
          <p:cNvPr id="984449304" name=""/>
          <p:cNvSpPr txBox="1"/>
          <p:nvPr/>
        </p:nvSpPr>
        <p:spPr bwMode="auto">
          <a:xfrm rot="0" flipH="0" flipV="0">
            <a:off x="838198" y="1324567"/>
            <a:ext cx="498302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Обработка последовательностей</a:t>
            </a:r>
            <a:endParaRPr/>
          </a:p>
        </p:txBody>
      </p:sp>
      <p:pic>
        <p:nvPicPr>
          <p:cNvPr id="53159602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38198" y="4205742"/>
            <a:ext cx="10515600" cy="820881"/>
          </a:xfrm>
          <a:prstGeom prst="rect">
            <a:avLst/>
          </a:prstGeom>
        </p:spPr>
      </p:pic>
      <p:sp>
        <p:nvSpPr>
          <p:cNvPr id="1348579429" name=""/>
          <p:cNvSpPr txBox="1"/>
          <p:nvPr/>
        </p:nvSpPr>
        <p:spPr bwMode="auto">
          <a:xfrm rot="0" flipH="0" flipV="0">
            <a:off x="838198" y="3892078"/>
            <a:ext cx="37615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/>
              <a:t>Сверточные сети</a:t>
            </a:r>
            <a:endParaRPr/>
          </a:p>
        </p:txBody>
      </p:sp>
      <p:pic>
        <p:nvPicPr>
          <p:cNvPr id="20544633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38198" y="5356751"/>
            <a:ext cx="10515600" cy="814880"/>
          </a:xfrm>
          <a:prstGeom prst="rect">
            <a:avLst/>
          </a:prstGeom>
        </p:spPr>
      </p:pic>
      <p:sp>
        <p:nvSpPr>
          <p:cNvPr id="769719465" name=""/>
          <p:cNvSpPr txBox="1"/>
          <p:nvPr/>
        </p:nvSpPr>
        <p:spPr bwMode="auto">
          <a:xfrm rot="0" flipH="0" flipV="0">
            <a:off x="838198" y="5026624"/>
            <a:ext cx="37755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/>
              <a:t>Графовые сети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083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ru-RU" sz="3000">
                <a:latin typeface="Arial"/>
                <a:ea typeface="Arial"/>
                <a:cs typeface="Arial"/>
              </a:rPr>
              <a:t>Прикладные области применения </a:t>
            </a:r>
            <a:r>
              <a:rPr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KAN</a:t>
            </a:r>
            <a:r>
              <a:rPr lang="ru-RU" sz="3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19200923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326987"/>
            <a:ext cx="10547868" cy="4865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0180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000"/>
              <a:t>Общие выводы</a:t>
            </a:r>
            <a:endParaRPr/>
          </a:p>
        </p:txBody>
      </p:sp>
      <p:sp>
        <p:nvSpPr>
          <p:cNvPr id="121329668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Преимущества</a:t>
            </a:r>
            <a:endParaRPr/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Интерпретируемость: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модель раскладывает многомерную функцию на набор обучаемых одномерных функций.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Малая выборка: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быстро сходится и реже переобучается на задачах с ограниченными данными.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Аппроксимация гладких функций: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хорошо подходит для регрессии.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Разреженность: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естественно отсекает нерелевантные признаки.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Универсальный аппроксиматор без глубины: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качество определяется числом компонент, а не количеством слоёв.</a:t>
            </a:r>
            <a:endParaRPr/>
          </a:p>
          <a:p>
            <a:pPr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Ограничения</a:t>
            </a:r>
            <a:endParaRPr/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Плохо масштабируется по признакам: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сложность растёт квадратично, не подходит для высоких размерностей.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Качество хуже на задачах компьютерного зрения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сверточные сети и трансформеры выигрывают на больших изображениях.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Малый выигрыш на больших данных: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при больших выборках преимущества исчезают.</a:t>
            </a:r>
            <a:endParaRPr sz="1600" b="0">
              <a:latin typeface="Arial"/>
              <a:cs typeface="Arial"/>
            </a:endParaRPr>
          </a:p>
          <a:p>
            <a:pPr>
              <a:buFont typeface="Arial"/>
              <a:buChar char="–"/>
              <a:defRPr/>
            </a:pP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Зависимость от выбора базиса: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требует тонкой настройки (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B-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сплайны, </a:t>
            </a:r>
            <a:r>
              <a:rPr lang="ru-RU"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полиномы Чебышева и др.</a:t>
            </a:r>
            <a:r>
              <a:rPr sz="16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).</a:t>
            </a:r>
            <a:endParaRPr sz="1600" b="0"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2025-12-20T13:38:13Z</dcterms:modified>
</cp:coreProperties>
</file>